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554480"/>
            <a:ext cx="4754880" cy="47548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CHANDIGARH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241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D2FE"/>
                </a:solidFill>
                <a:latin typeface="Segoe UI"/>
              </a:rPr>
              <a:t>University Institute of Computing  ·  Department of Computer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7D2FE"/>
                </a:solidFill>
                <a:latin typeface="Poppins"/>
              </a:rPr>
              <a:t>FINAL-YEAR MAJOR PROJECT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95728"/>
            <a:ext cx="192024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Poppins"/>
              </a:rPr>
              <a:t>Realtime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1188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Georgia"/>
              </a:rPr>
              <a:t>A Cross-Platform Realtime Messaging 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7D2FE"/>
                </a:solidFill>
                <a:latin typeface="Georgia"/>
              </a:rPr>
              <a:t>built with Expo &amp; 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26280"/>
            <a:ext cx="6035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908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Submitted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6908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Ishika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University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08406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023BCA110006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77255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77255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BCA-V2  ·  2023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70447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Mentor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870447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Sahil Jindal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2FE"/>
                </a:solidFill>
                <a:latin typeface="Georgia"/>
              </a:rPr>
              <a:t>Submitted in partial fulfillment of the degree of Bachelor of Computer Applications (BCA)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75569"/>
                </a:solidFill>
                <a:latin typeface="Georgia"/>
              </a:rPr>
              <a:t>Realtime Chat is a WhatsApp-style Android messenger that delivers a full real-time communication experience — while being built with no custom backend server at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E1B4B"/>
                </a:solidFill>
                <a:latin typeface="Poppins"/>
              </a:rPr>
              <a:t>Building a messenger is hard because it must solve, together: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1">
                <a:solidFill>
                  <a:srgbClr val="1E1B4B"/>
                </a:solidFill>
                <a:latin typeface="Segoe UI"/>
              </a:rPr>
              <a:t>Real-time delivery.  </a:t>
            </a:r>
            <a:r>
              <a:rPr sz="1400" b="0">
                <a:solidFill>
                  <a:srgbClr val="1E1B4B"/>
                </a:solidFill>
                <a:latin typeface="Segoe UI"/>
              </a:rPr>
              <a:t>Messages must appear within milliseconds — polling will not do.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1">
                <a:solidFill>
                  <a:srgbClr val="1E1B4B"/>
                </a:solidFill>
                <a:latin typeface="Segoe UI"/>
              </a:rPr>
              <a:t>State synchronization.  </a:t>
            </a:r>
            <a:r>
              <a:rPr sz="1400" b="0">
                <a:solidFill>
                  <a:srgbClr val="1E1B4B"/>
                </a:solidFill>
                <a:latin typeface="Segoe UI"/>
              </a:rPr>
              <a:t>Presence, typing, receipts and reaction counts stay consistent across devices.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1">
                <a:solidFill>
                  <a:srgbClr val="1E1B4B"/>
                </a:solidFill>
                <a:latin typeface="Segoe UI"/>
              </a:rPr>
              <a:t>Security &amp; privacy.  </a:t>
            </a:r>
            <a:r>
              <a:rPr sz="1400" b="0">
                <a:solidFill>
                  <a:srgbClr val="1E1B4B"/>
                </a:solidFill>
                <a:latin typeface="Segoe UI"/>
              </a:rPr>
              <a:t>A conversation must be invisible to everyone outside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1">
                <a:solidFill>
                  <a:srgbClr val="1E1B4B"/>
                </a:solidFill>
                <a:latin typeface="Segoe UI"/>
              </a:rPr>
              <a:t>Offline notification.  </a:t>
            </a:r>
            <a:r>
              <a:rPr sz="1400" b="0">
                <a:solidFill>
                  <a:srgbClr val="1E1B4B"/>
                </a:solidFill>
                <a:latin typeface="Segoe UI"/>
              </a:rPr>
              <a:t>The user must be alerted even when the app is completely closed.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32120"/>
            <a:ext cx="91440" cy="7315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509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D9488"/>
                </a:solidFill>
                <a:latin typeface="Poppins"/>
              </a:rPr>
              <a:t>THE GOAL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1B4B"/>
                </a:solidFill>
                <a:latin typeface="Segoe UI"/>
              </a:rPr>
              <a:t>Deliver all of the above using only managed cloud services — zero servers to operate.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17320"/>
            <a:ext cx="3593592" cy="14813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17320"/>
            <a:ext cx="73152" cy="14813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56362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Data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84248"/>
            <a:ext cx="31912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 normalized schema for users, DMs, channels, members, messages, reactions &amp; tokens.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417320"/>
            <a:ext cx="3593592" cy="14813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417320"/>
            <a:ext cx="73152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56362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984248"/>
            <a:ext cx="31912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Instant bidirectional delivery via publish-subscribe, not polling.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417320"/>
            <a:ext cx="3593592" cy="14813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417320"/>
            <a:ext cx="73152" cy="148132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56362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Rich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984248"/>
            <a:ext cx="31912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Edit/delete, reactions, receipts, unread badges, presence &amp; typing.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99816"/>
            <a:ext cx="3593592" cy="14813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99816"/>
            <a:ext cx="73152" cy="14813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24612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Image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666744"/>
            <a:ext cx="31912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Secure, access-controlled media in object storage.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3099816"/>
            <a:ext cx="3593592" cy="14813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3099816"/>
            <a:ext cx="73152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24612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3666744"/>
            <a:ext cx="31912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Conversation isolation enforced at the database layer (RLS).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099816"/>
            <a:ext cx="3593592" cy="1481328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3099816"/>
            <a:ext cx="73152" cy="148132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246120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Offline push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666744"/>
            <a:ext cx="31912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Notifications that reach users when the app is closed, via FCM.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Scope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9488"/>
                </a:solidFill>
                <a:latin typeface="Poppins"/>
              </a:rPr>
              <a:t>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Android platform (single React Native codebase, portable to iOS later)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Username-based anonymous sign-in — frictionless onboarding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Text and image messages, one-to-one DMs and group channels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Real-time delivery, presence, typing, receipts, reactions and push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Poppins"/>
              </a:rPr>
              <a:t>Out of scope (future work)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iOS distribution and Apple push credentials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Voice / video calling and audio messages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400" b="0">
                <a:solidFill>
                  <a:srgbClr val="1E1B4B"/>
                </a:solidFill>
                <a:latin typeface="Segoe UI"/>
              </a:rPr>
              <a:t>End-to-end encryption of message contents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Existing Systems &amp;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508760"/>
          <a:ext cx="11091672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651760"/>
                <a:gridCol w="2651760"/>
                <a:gridCol w="267919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Capability</a:t>
                      </a:r>
                    </a:p>
                  </a:txBody>
                  <a:tcPr marL="109728" marR="73152" marT="36576" marB="36576" anchor="ctr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WhatsApp / Telegram</a:t>
                      </a:r>
                    </a:p>
                  </a:txBody>
                  <a:tcPr marL="109728" marR="73152" marT="36576" marB="36576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Discord</a:t>
                      </a:r>
                    </a:p>
                  </a:txBody>
                  <a:tcPr marL="109728" marR="73152" marT="36576" marB="36576" anchor="ctr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Realtime Chat</a:t>
                      </a:r>
                    </a:p>
                  </a:txBody>
                  <a:tcPr marL="109728" marR="73152" marT="36576" marB="36576" anchor="ctr">
                    <a:solidFill>
                      <a:srgbClr val="6D28D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1B4B"/>
                          </a:solidFill>
                          <a:latin typeface="Segoe UI"/>
                        </a:rPr>
                        <a:t>Real-time delivery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Custom protocol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WebSocket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Supabase Realtime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1B4B"/>
                          </a:solidFill>
                          <a:latin typeface="Segoe UI"/>
                        </a:rPr>
                        <a:t>Presence &amp; typing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1B4B"/>
                          </a:solidFill>
                          <a:latin typeface="Segoe UI"/>
                        </a:rPr>
                        <a:t>Read receipts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 (per-member)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1B4B"/>
                          </a:solidFill>
                          <a:latin typeface="Segoe UI"/>
                        </a:rPr>
                        <a:t>Reactions / edit / delete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1B4B"/>
                          </a:solidFill>
                          <a:latin typeface="Segoe UI"/>
                        </a:rPr>
                        <a:t>Offline push (app closed)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 (Edge Fn → FCM)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1B4B"/>
                          </a:solidFill>
                          <a:latin typeface="Segoe UI"/>
                        </a:rPr>
                        <a:t>Self-managed backend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 (large)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 (large)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None — fully managed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Georgia"/>
              </a:rPr>
              <a:t>Same user-facing capabilities as mainstream messengers — achieved with managed cloud primitives instead of a hand-built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Proposed System —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475569"/>
                </a:solidFill>
                <a:latin typeface="Georgia"/>
              </a:rPr>
              <a:t>A three-tier, database-centric design: a thin native client, a fully managed backend, and the OS push gateway.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3520440" cy="566928"/>
          </a:xfrm>
          <a:prstGeom prst="roundRect">
            <a:avLst>
              <a:gd name="adj" fmla="val 5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520440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4203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Mobile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Expo · React Native (SDK 52). Screens, data layer, realtime subscriber.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96511" y="3429000"/>
            <a:ext cx="18288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5968" y="2468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2468880"/>
            <a:ext cx="3520440" cy="566928"/>
          </a:xfrm>
          <a:prstGeom prst="roundRect">
            <a:avLst>
              <a:gd name="adj" fmla="val 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743200"/>
            <a:ext cx="3520440" cy="29260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54203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Supabase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20040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PostgreSQL · Realtime · Auth · Storage · Edge Functions.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3840" y="3429000"/>
            <a:ext cx="18288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3296" y="2468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83296" y="2468880"/>
            <a:ext cx="3520440" cy="566928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2743200"/>
            <a:ext cx="352044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54203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Notification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20040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Expo Push → Firebase Cloud Messaging → device.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  <a:latin typeface="Poppins"/>
              </a:rPr>
              <a:t>Design principle: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Georgia"/>
              </a:rPr>
              <a:t>The database is the single source of truth; security is enforced where the data lives; the server is event-driven and stateless.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Technology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730A3"/>
                </a:solidFill>
                <a:latin typeface="Poppins"/>
              </a:rPr>
              <a:t>Expo + React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SDK 52. One JavaScript codebase compiles to a native Android app with camera, library &amp; push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463040"/>
            <a:ext cx="73152" cy="2011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React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Native-stack navigator providing platform-native screen transitions across four screens.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D9488"/>
                </a:solidFill>
                <a:latin typeface="Poppins"/>
              </a:rPr>
              <a:t>Supabase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Managed PostgreSQL, Realtime engine, Auth, Storage and Edge Functions — every backend concern in one platform.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70332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Poppins"/>
              </a:rPr>
              <a:t>Deno Edge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Serverless TypeScript running close to the database — the single piece of custom server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46888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Mobile Client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C7D2FE"/>
                </a:solidFill>
                <a:latin typeface="Segoe UI"/>
              </a:rPr>
              <a:t>Expo · React Native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645920"/>
            <a:ext cx="4297680" cy="31089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8308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D28D9"/>
                </a:solidFill>
                <a:latin typeface="Poppins"/>
              </a:rPr>
              <a:t>SUPABASE 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19456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19456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PostgreSQL  ·  RLS  ·  RPCs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52928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2852928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Realtime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2852928"/>
            <a:ext cx="1828800" cy="566928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2852928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Auth ·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511296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511296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Edge Function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169663"/>
            <a:ext cx="3840480" cy="4572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169663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pg_net trigger (on insert)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468880"/>
            <a:ext cx="3017520" cy="822960"/>
          </a:xfrm>
          <a:prstGeom prst="roundRect">
            <a:avLst>
              <a:gd name="adj" fmla="val 8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468880"/>
            <a:ext cx="3017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Expo Push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3474720"/>
            <a:ext cx="3017520" cy="82296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474720"/>
            <a:ext cx="3017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Firebase (FCM) → device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54680" y="2697480"/>
            <a:ext cx="45720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7973568" y="2743200"/>
            <a:ext cx="5029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9784080" y="3310128"/>
            <a:ext cx="274320" cy="164592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7947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HTTPS (SQL)  +  WebSocket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Georgia"/>
              </a:rPr>
              <a:t>The client holds no privileged credentials — it authenticates anonymously and is bound by Row Level Security for every operation. The notification path is entirely server-side.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Database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5087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09928"/>
            <a:ext cx="3566160" cy="2560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572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onsolas"/>
              </a:rPr>
              <a:t>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0756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onsolas"/>
              </a:rPr>
              <a:t>id · username · created_at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15087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5087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709928"/>
            <a:ext cx="3566160" cy="25603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1572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onsolas"/>
              </a:rPr>
              <a:t>rooms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0756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onsolas"/>
              </a:rPr>
              <a:t>id · type (dm|channel) · name · slug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15087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5008" y="15087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5008" y="1709928"/>
            <a:ext cx="3566160" cy="2560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1572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onsolas"/>
              </a:rPr>
              <a:t>room_members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0756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onsolas"/>
              </a:rPr>
              <a:t>room_id · user_id · last_read_at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1089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1089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10128"/>
            <a:ext cx="3566160" cy="25603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72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onsolas"/>
              </a:rPr>
              <a:t>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675887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onsolas"/>
              </a:rPr>
              <a:t>id · room_id · sender_id · body · image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6824" y="31089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06824" y="31089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06824" y="3310128"/>
            <a:ext cx="3566160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3172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onsolas"/>
              </a:rPr>
              <a:t>reactions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3675887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onsolas"/>
              </a:rPr>
              <a:t>message_id · user_id · emoji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1089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65008" y="31089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3310128"/>
            <a:ext cx="3566160" cy="2560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3172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onsolas"/>
              </a:rPr>
              <a:t>push_tokens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675887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Consolas"/>
              </a:rPr>
              <a:t>id · user_id · token ·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Georgia"/>
              </a:rPr>
              <a:t>Six normalized tables. A single rooms table represents both DMs and channels, keeping membership, messaging and real-time logic uniform across conversation kinds.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Key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Direct messages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8728" y="1920240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Group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7" y="19202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Real-time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399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16567" y="1920240"/>
            <a:ext cx="365760" cy="36576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Edit &amp; delete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32461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Emoji reactions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38728" y="3246120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Read receipts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7647" y="32461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7999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Unread badges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399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16567" y="3246120"/>
            <a:ext cx="365760" cy="36576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19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Online presence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Typing indicators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7560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38728" y="4572000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Image sharing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79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27647" y="4572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7999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User search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399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16567" y="4572000"/>
            <a:ext cx="365760" cy="36576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19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1B4B"/>
                </a:solidFill>
                <a:latin typeface="Poppins"/>
              </a:rPr>
              <a:t>Offline push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Real-Time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475569"/>
                </a:solidFill>
                <a:latin typeface="Georgia"/>
              </a:rPr>
              <a:t>One Realtime channel per room multiplexes three complementary mechanisms.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73152" cy="23774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43230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730A3"/>
                </a:solidFill>
                <a:latin typeface="Poppins"/>
              </a:rPr>
              <a:t>Postgres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52928"/>
            <a:ext cx="31181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Streams INSERT / UPDATE / DELETE on messages &amp; reactions — durable state that survives reconnection.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2860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2286000"/>
            <a:ext cx="73152" cy="2377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43230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D9488"/>
                </a:solidFill>
                <a:latin typeface="Poppins"/>
              </a:rPr>
              <a:t>Presence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852928"/>
            <a:ext cx="31181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Tracks the set of users currently joined to a room — the online indicator. Derived, not stored.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228600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28600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243230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Poppins"/>
              </a:rPr>
              <a:t>Broadcast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852928"/>
            <a:ext cx="31181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Low-latency pub-sub for ephemeral typing events that never touch the database.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730A3"/>
                </a:solidFill>
                <a:latin typeface="Poppins"/>
              </a:rPr>
              <a:t>Design insight: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Georgia"/>
              </a:rPr>
              <a:t>Persisted state flows through Postgres Changes; transient state through Broadcast; presence is computed. One channel, cleanly separated concerns.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Security — Row Level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 b="1">
                <a:solidFill>
                  <a:srgbClr val="1E1B4B"/>
                </a:solidFill>
                <a:latin typeface="Segoe UI"/>
              </a:rPr>
              <a:t>RLS on every table.  </a:t>
            </a:r>
            <a:r>
              <a:rPr sz="1450" b="0">
                <a:solidFill>
                  <a:srgbClr val="1E1B4B"/>
                </a:solidFill>
                <a:latin typeface="Segoe UI"/>
              </a:rPr>
              <a:t>A row is readable/writable only if the user is a member of its room.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 b="1">
                <a:solidFill>
                  <a:srgbClr val="1E1B4B"/>
                </a:solidFill>
                <a:latin typeface="Segoe UI"/>
              </a:rPr>
              <a:t>Recursion-safe.  </a:t>
            </a:r>
            <a:r>
              <a:rPr sz="1450" b="0">
                <a:solidFill>
                  <a:srgbClr val="1E1B4B"/>
                </a:solidFill>
                <a:latin typeface="Segoe UI"/>
              </a:rPr>
              <a:t>A SECURITY DEFINER helper private.is_room_member() breaks policy recursion.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 b="1">
                <a:solidFill>
                  <a:srgbClr val="1E1B4B"/>
                </a:solidFill>
                <a:latin typeface="Segoe UI"/>
              </a:rPr>
              <a:t>Authenticated-only RPCs.  </a:t>
            </a:r>
            <a:r>
              <a:rPr sz="1450" b="0">
                <a:solidFill>
                  <a:srgbClr val="1E1B4B"/>
                </a:solidFill>
                <a:latin typeface="Segoe UI"/>
              </a:rPr>
              <a:t>Invariants (e.g. a DM has exactly two members) are guaranteed server-side.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11091672" cy="123444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4B5FD"/>
                </a:solidFill>
                <a:latin typeface="Consolas"/>
              </a:rPr>
              <a:t>create policy read_messages on messages for select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E7B7"/>
                </a:solidFill>
                <a:latin typeface="Consolas"/>
              </a:rPr>
              <a:t>  using ( private.is_room_member(room_id, auth.uid()) 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3892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D9488"/>
                </a:solidFill>
                <a:latin typeface="Poppins"/>
              </a:rPr>
              <a:t>VERIFIED — 12 / 12 SECURITY CHECKS PASSED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1B4B"/>
                </a:solidFill>
                <a:latin typeface="Segoe UI"/>
              </a:rPr>
              <a:t>An adversarial test with three real users confirmed an outsider cannot read, post to, or see reactions in a private DM.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Push Notifications — App Closed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INSERT
message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79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8648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pg_net
trigger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27448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57216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Edge
Function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86016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15784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4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Expo
Push API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44584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74352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oppins"/>
              </a:rPr>
              <a:t>FCM →
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Georgia"/>
              </a:rPr>
              <a:t>When a message is inserted, a database trigger calls the Edge Function via pg_net. The function re-validates the message with the service role, looks up the recipients' device tokens, and dispatches through Expo Push to FCM — so the notification appears even when the app has been swiped away.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91440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68756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1B4B"/>
                </a:solidFill>
                <a:latin typeface="Segoe UI"/>
              </a:rPr>
              <a:t>The sending client is never in the delivery path — the pipeline is entirely server-side.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Implementation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730A3"/>
                </a:solidFill>
                <a:latin typeface="Poppins"/>
              </a:rPr>
              <a:t>Data layer (api.js)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All Supabase access funneled through one module — screens stay declarative.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463040"/>
            <a:ext cx="73152" cy="2011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D9488"/>
                </a:solidFill>
                <a:latin typeface="Poppins"/>
              </a:rPr>
              <a:t>Realtime subscriber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One channel per room wires messages, presence &amp; typing; torn down on unmount.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73152" cy="2011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6D28D9"/>
                </a:solidFill>
                <a:latin typeface="Poppins"/>
              </a:rPr>
              <a:t>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Avatar, Composer, MessageBubble, ActionsSheet, RoomListItem, NameGate.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70332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Poppins"/>
              </a:rPr>
              <a:t>Migrations 0001–0004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Version-controlled schema: init → messenger → harden → push trigger.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SIX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Testing &amp;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508760"/>
          <a:ext cx="11091672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3657600"/>
                <a:gridCol w="231343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Test Case</a:t>
                      </a:r>
                    </a:p>
                  </a:txBody>
                  <a:tcPr marL="109728" marR="73152" marT="36576" marB="36576" anchor="ctr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Expected</a:t>
                      </a:r>
                    </a:p>
                  </a:txBody>
                  <a:tcPr marL="109728" marR="73152" marT="36576" marB="36576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Status</a:t>
                      </a:r>
                    </a:p>
                  </a:txBody>
                  <a:tcPr marL="109728" marR="73152" marT="36576" marB="36576" anchor="ctr">
                    <a:solidFill>
                      <a:srgbClr val="3730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Segoe UI"/>
                        </a:rPr>
                        <a:t>Real-time text delivery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Appears within ~1 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Segoe UI"/>
                        </a:rPr>
                        <a:t>Edit / delete / reaction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Propagates live to all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Segoe UI"/>
                        </a:rPr>
                        <a:t>Read receipt &amp; unread badge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Updates correctly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Segoe UI"/>
                        </a:rPr>
                        <a:t>Image share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Uploads + signed URL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Segoe UI"/>
                        </a:rPr>
                        <a:t>Push while app closed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Device shows notification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1B4B"/>
                          </a:solidFill>
                          <a:latin typeface="Segoe UI"/>
                        </a:rPr>
                        <a:t>RLS isolation (outsider)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Access denied (0 rows)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Georgia"/>
              </a:rPr>
              <a:t>All 14 functional test cases passed; the security model passed 12/12 adversarial checks.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CHAPTER NINE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E1B4B"/>
                </a:solidFill>
                <a:latin typeface="Georgia"/>
              </a:rPr>
              <a:t>A complete, secure, real-time messenger — including offline push — was built and shipped as an Android APK using only managed cloud services. No backend server is operated.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D28D9"/>
                </a:solidFill>
                <a:latin typeface="Poppins"/>
              </a:rPr>
              <a:t>Future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82296" cy="9144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20040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iOS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200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3200400"/>
            <a:ext cx="82296" cy="9144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79" y="320040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Durable accounts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3200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3200400"/>
            <a:ext cx="82296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799" y="320040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End-to-end encryption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399" y="32004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399" y="320040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320040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Voice &amp; video calls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82296" cy="9144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29768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Message 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42976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4297680"/>
            <a:ext cx="82296" cy="9144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79" y="429768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Web client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79" y="42976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9" y="4297680"/>
            <a:ext cx="82296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799" y="429768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Threaded replies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399" y="42976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15399" y="429768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429768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1B4B"/>
                </a:solidFill>
                <a:latin typeface="Poppins"/>
              </a:rPr>
              <a:t>Play Store release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7D2FE"/>
                </a:solidFill>
                <a:latin typeface="Poppins"/>
              </a:rPr>
              <a:t>BIBLIOGRAPHY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Ishika Sai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023BCA110006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3730A3"/>
                </a:solidFill>
                <a:latin typeface="Segoe U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[1]  </a:t>
            </a:r>
            <a:r>
              <a:rPr sz="1200" b="0">
                <a:solidFill>
                  <a:srgbClr val="1E1B4B"/>
                </a:solidFill>
                <a:latin typeface="Segoe UI"/>
              </a:rPr>
              <a:t>Expo — Documentation &amp; EAS Build.  docs.expo.dev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[2]  </a:t>
            </a:r>
            <a:r>
              <a:rPr sz="1200" b="0">
                <a:solidFill>
                  <a:srgbClr val="1E1B4B"/>
                </a:solidFill>
                <a:latin typeface="Segoe UI"/>
              </a:rPr>
              <a:t>React Native — reactnative.dev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[3]  </a:t>
            </a:r>
            <a:r>
              <a:rPr sz="1200" b="0">
                <a:solidFill>
                  <a:srgbClr val="1E1B4B"/>
                </a:solidFill>
                <a:latin typeface="Segoe UI"/>
              </a:rPr>
              <a:t>Supabase — Database, Realtime, Auth, Storage &amp; Edge Functions.  supabase.com/docs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[4]  </a:t>
            </a:r>
            <a:r>
              <a:rPr sz="1200" b="0">
                <a:solidFill>
                  <a:srgbClr val="1E1B4B"/>
                </a:solidFill>
                <a:latin typeface="Segoe UI"/>
              </a:rPr>
              <a:t>Supabase — Realtime: Postgres Changes, Presence &amp; Broadcast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[5]  </a:t>
            </a:r>
            <a:r>
              <a:rPr sz="1200" b="0">
                <a:solidFill>
                  <a:srgbClr val="1E1B4B"/>
                </a:solidFill>
                <a:latin typeface="Segoe UI"/>
              </a:rPr>
              <a:t>PostgreSQL — Row Security Policies.  postgresql.org/docs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[6]  </a:t>
            </a:r>
            <a:r>
              <a:rPr sz="1200" b="0">
                <a:solidFill>
                  <a:srgbClr val="1E1B4B"/>
                </a:solidFill>
                <a:latin typeface="Segoe UI"/>
              </a:rPr>
              <a:t>Supabase — Edge Functions &amp; Push Notifications examples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[7]  </a:t>
            </a:r>
            <a:r>
              <a:rPr sz="1200" b="0">
                <a:solidFill>
                  <a:srgbClr val="1E1B4B"/>
                </a:solidFill>
                <a:latin typeface="Segoe UI"/>
              </a:rPr>
              <a:t>Google — Firebase Cloud Messaging.  firebase.google.com/docs/cloud-messaging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[8]  </a:t>
            </a:r>
            <a:r>
              <a:rPr sz="1200" b="0">
                <a:solidFill>
                  <a:srgbClr val="1E1B4B"/>
                </a:solidFill>
                <a:latin typeface="Segoe UI"/>
              </a:rPr>
              <a:t>Expo — Push Notifications setup &amp; overview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[9]  </a:t>
            </a:r>
            <a:r>
              <a:rPr sz="1200" b="0">
                <a:solidFill>
                  <a:srgbClr val="1E1B4B"/>
                </a:solidFill>
                <a:latin typeface="Segoe UI"/>
              </a:rPr>
              <a:t>I. Fette &amp; A. Melnikov — The WebSocket Protocol, RFC 6455 (IETF)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Segoe UI"/>
              </a:rPr>
              <a:t>[10]  </a:t>
            </a:r>
            <a:r>
              <a:rPr sz="1200" b="0">
                <a:solidFill>
                  <a:srgbClr val="1E1B4B"/>
                </a:solidFill>
                <a:latin typeface="Segoe UI"/>
              </a:rPr>
              <a:t>React Navigation — reactnavigation.org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730A3"/>
              </a:gs>
              <a:gs pos="100000">
                <a:srgbClr val="6D28D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331720"/>
            <a:ext cx="22860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7D2FE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Ishika Sai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7D2FE"/>
                </a:solidFill>
                <a:latin typeface="Segoe UI"/>
              </a:rPr>
              <a:t>UID 023BCA110006  ·  BCA-V2  ·  Chandigarh University  ·  Mentor: Sahil Jindal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